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0" d="100"/>
          <a:sy n="80" d="100"/>
        </p:scale>
        <p:origin x="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1A87C-33D7-4212-9439-CA9FAF22DAE4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C02C0-CA06-43CD-AFDC-BF103546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4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C02C0-CA06-43CD-AFDC-BF103546210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05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6D1C-12B6-2B04-5AAE-0B31067CC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BB9F5-966D-83A6-84B6-293042C24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28EF4-2401-7D6A-027B-BC2B94C3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9445-7320-ECD4-D2A4-39121A69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5D6D-3F30-1D21-466A-D38D4695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16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96E9-E7BB-C6A9-98EB-C9F0797D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5FA5-6D44-94AC-8341-D0425ECED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B34D6-5C36-DC96-5CD3-013CB6C2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24C0E-0F2C-4320-136E-BD5D65F3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BEE19-3EF0-B375-4479-CB18BDE6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1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EC2E-FD59-4888-2DB0-9F6FFA94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86021-6983-7F7D-59E2-68B2EAB61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602E-9B58-00F2-8B8D-5EC60441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C373C-9E38-B1CB-086F-D06F7931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5639-BFDC-1B63-A9F1-EDCBC411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53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0038-9589-A684-E62E-978B60E5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ABB8-4B3C-CBEF-DA6F-D4A6FB31B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9E6AD-6C96-D2A3-E497-67EDD5C84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CC41D-BEE9-3AFA-199B-9A31C72C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87F52-591C-D9CA-C879-2CA9BFF5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9C719-BAA2-26B5-0993-51C21E69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45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4443-6F93-03F1-405D-4FF0CD61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66687-BF3E-ADCB-E47B-B3F47BF74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DABB5-C04A-2064-14E1-48B58800C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FE302-EF72-6AA2-3CB2-71F109AA8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C3320-F00E-733B-76CB-CEF05D6E1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4024C-57A1-8DAA-D4F4-4FE7F148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5418F-5090-911F-2FF2-5C0E72A9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0148E-5EB3-DA70-FD7F-38E3E4C9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74DE-44C7-3527-E8F7-CF2936C9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A2F7A-B5D7-D26B-3E5D-A661C250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BEC9D-83DD-9C92-9DF8-AB2F3D30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68A35-EEAC-03D9-730C-2932C296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85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B0989-516E-DD34-2A2B-ED0BE53F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6DDE9-3612-C383-651D-B2826E64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50E80-1712-BB89-8257-E242579C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8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94D8-BB5A-9669-3C47-987E21CA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BAF0-D75D-14BA-EC21-126F38B2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5C987-9C03-D553-D9B0-E91ACC5B2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233E5-3B9B-D37F-DF84-6E9BAD30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9AF3-BFFE-9A49-461F-EDDC097E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D1ED-09E5-83B2-C04C-4B56FE8E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1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4B31-124B-2A2B-2EE1-943197633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4B179-A63A-846D-BFAA-0DDA0FC25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C37F5-D6C4-EEA3-650A-02B2E3F7F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9D728-F2CE-B074-270B-C4265486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EC50E-3EDA-7169-7661-390E4F11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461A4-1EBD-6272-6957-6222B513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5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D4A3-EF2E-1042-F107-FB4BF6EF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F7015-F14D-3889-F2B1-E4A17C46A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2E95-16EF-68E5-4C2A-F4E136B7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21B46-7DE4-BEB7-D1CF-119D03EC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A58BC-16A4-2175-B7E5-5F2E81A2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42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19DC0-4588-405F-B98F-D74D850E2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581B0-7326-EA5A-F745-1627BAF36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6BBBC-18D2-FAC6-A963-BF9486F9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DFCC7-737B-1272-2458-4FEEDB10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2FC1-14F9-22E5-A23B-2159A0B6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8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B7980-676F-5014-2409-297A9B27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BCF80-3FBC-6250-AC48-3EAF56EF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CA29-DBF0-7A27-8636-A2E42D655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BA7EA-1FC1-435B-91E2-8B3F394894E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C592F-4A05-3E76-CE2F-5CDE35A31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78FC-10BD-FC32-3821-F2CD9CF43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29692-7A8D-4526-AEC4-AE57EB0F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08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openxmlformats.org/officeDocument/2006/relationships/image" Target="../media/image9.svg"/><Relationship Id="rId5" Type="http://schemas.openxmlformats.org/officeDocument/2006/relationships/image" Target="../media/image3.jpg"/><Relationship Id="rId10" Type="http://schemas.openxmlformats.org/officeDocument/2006/relationships/image" Target="../media/image8.sv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A726BF9-CB54-DE63-67F6-824A5983F944}"/>
              </a:ext>
            </a:extLst>
          </p:cNvPr>
          <p:cNvSpPr/>
          <p:nvPr/>
        </p:nvSpPr>
        <p:spPr>
          <a:xfrm>
            <a:off x="-45393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7E9E4F35-A578-8685-125D-0B3D11C384ED}"/>
              </a:ext>
            </a:extLst>
          </p:cNvPr>
          <p:cNvSpPr/>
          <p:nvPr/>
        </p:nvSpPr>
        <p:spPr>
          <a:xfrm>
            <a:off x="6360419" y="491940"/>
            <a:ext cx="973393" cy="420884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14A635D9-A1E2-5CD7-480B-FE8DFF8DE813}"/>
              </a:ext>
            </a:extLst>
          </p:cNvPr>
          <p:cNvSpPr/>
          <p:nvPr/>
        </p:nvSpPr>
        <p:spPr>
          <a:xfrm>
            <a:off x="7446883" y="1175281"/>
            <a:ext cx="973393" cy="416887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4AD837-3C60-B1A4-C7EF-3AF7119D19C7}"/>
              </a:ext>
            </a:extLst>
          </p:cNvPr>
          <p:cNvSpPr/>
          <p:nvPr/>
        </p:nvSpPr>
        <p:spPr>
          <a:xfrm>
            <a:off x="8533347" y="949139"/>
            <a:ext cx="973393" cy="4621163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CC4493-94CC-3B9B-7B0B-48CC345ED87C}"/>
              </a:ext>
            </a:extLst>
          </p:cNvPr>
          <p:cNvSpPr/>
          <p:nvPr/>
        </p:nvSpPr>
        <p:spPr>
          <a:xfrm>
            <a:off x="9619811" y="757410"/>
            <a:ext cx="973393" cy="500462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6759C3-03E0-9D07-0099-E40822C9B042}"/>
              </a:ext>
            </a:extLst>
          </p:cNvPr>
          <p:cNvSpPr/>
          <p:nvPr/>
        </p:nvSpPr>
        <p:spPr>
          <a:xfrm>
            <a:off x="10706275" y="491940"/>
            <a:ext cx="973393" cy="553556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4B21213-2B02-1FB4-30F7-BABC87696D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880863" y="4614170"/>
            <a:ext cx="914400" cy="914400"/>
          </a:xfrm>
          <a:prstGeom prst="ellips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3C60F1-5117-4829-86F2-161D01A883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880863" y="6721416"/>
            <a:ext cx="914400" cy="914400"/>
          </a:xfrm>
          <a:prstGeom prst="ellipse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931A041-9252-FBFB-12E1-602FC7D6B1E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880863" y="5667793"/>
            <a:ext cx="914400" cy="914400"/>
          </a:xfrm>
          <a:prstGeom prst="ellipse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7CEEE21-E71B-773E-BD12-548E79D36A8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880863" y="7775039"/>
            <a:ext cx="914400" cy="914400"/>
          </a:xfrm>
          <a:prstGeom prst="ellipse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B54D39-45A3-923A-869B-8B8B63877FE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437538" y="2646147"/>
            <a:ext cx="1828800" cy="1828800"/>
          </a:xfrm>
          <a:prstGeom prst="ellipse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9B7AABD-8F39-CB40-C574-8BB622A25CF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880863" y="8828660"/>
            <a:ext cx="914400" cy="914400"/>
          </a:xfrm>
          <a:prstGeom prst="ellipse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6813E22-CAA3-02E8-89B2-6F053DA3DCC2}"/>
              </a:ext>
            </a:extLst>
          </p:cNvPr>
          <p:cNvSpPr txBox="1"/>
          <p:nvPr/>
        </p:nvSpPr>
        <p:spPr>
          <a:xfrm>
            <a:off x="2495188" y="1301497"/>
            <a:ext cx="3251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gency FB" panose="020B0503020202020204" pitchFamily="34" charset="0"/>
              </a:rPr>
              <a:t>FPGA BASED</a:t>
            </a:r>
            <a:endParaRPr lang="en-IN" sz="4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C16CA3-196D-A2DC-147E-A16F8FD3C294}"/>
              </a:ext>
            </a:extLst>
          </p:cNvPr>
          <p:cNvSpPr txBox="1"/>
          <p:nvPr/>
        </p:nvSpPr>
        <p:spPr>
          <a:xfrm>
            <a:off x="2471410" y="1863829"/>
            <a:ext cx="466750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500" spc="-150" dirty="0">
                <a:solidFill>
                  <a:srgbClr val="00B0F0"/>
                </a:solidFill>
                <a:latin typeface="Agency FB" panose="020B0503020202020204" pitchFamily="34" charset="0"/>
              </a:rPr>
              <a:t>INTELLIGENT UART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2FE062-1043-1892-C646-9E404290C680}"/>
              </a:ext>
            </a:extLst>
          </p:cNvPr>
          <p:cNvSpPr txBox="1"/>
          <p:nvPr/>
        </p:nvSpPr>
        <p:spPr>
          <a:xfrm>
            <a:off x="2504770" y="2518095"/>
            <a:ext cx="3362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bg1"/>
                </a:solidFill>
              </a:rPr>
              <a:t>COMMAND</a:t>
            </a:r>
            <a:r>
              <a:rPr lang="en-IN" dirty="0">
                <a:solidFill>
                  <a:schemeClr val="bg1"/>
                </a:solidFill>
              </a:rPr>
              <a:t> &amp; CONTROL SYSTEM 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3A6B6BE-D42E-F443-3E3C-C29383EBB267}"/>
              </a:ext>
            </a:extLst>
          </p:cNvPr>
          <p:cNvCxnSpPr/>
          <p:nvPr/>
        </p:nvCxnSpPr>
        <p:spPr>
          <a:xfrm>
            <a:off x="2529485" y="3429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33BA2DC-5927-F03B-CCE0-BCB150DB09DE}"/>
              </a:ext>
            </a:extLst>
          </p:cNvPr>
          <p:cNvSpPr txBox="1"/>
          <p:nvPr/>
        </p:nvSpPr>
        <p:spPr>
          <a:xfrm>
            <a:off x="2522387" y="3440214"/>
            <a:ext cx="3074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USING </a:t>
            </a:r>
            <a:r>
              <a:rPr lang="en-US" sz="2400" dirty="0">
                <a:solidFill>
                  <a:srgbClr val="00B0F0"/>
                </a:solidFill>
                <a:latin typeface="Agency FB" panose="020B0503020202020204" pitchFamily="34" charset="0"/>
              </a:rPr>
              <a:t>VERILOG</a:t>
            </a:r>
            <a:endParaRPr lang="en-IN" sz="24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83B30-D114-BA4E-7235-853B265A32BB}"/>
              </a:ext>
            </a:extLst>
          </p:cNvPr>
          <p:cNvSpPr txBox="1"/>
          <p:nvPr/>
        </p:nvSpPr>
        <p:spPr>
          <a:xfrm>
            <a:off x="2549805" y="4041674"/>
            <a:ext cx="306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A Real-Time Two-Way Communication System for Smart Control Applications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92F8BA9-27E4-5CC3-9511-898F018F4F66}"/>
              </a:ext>
            </a:extLst>
          </p:cNvPr>
          <p:cNvCxnSpPr>
            <a:cxnSpLocks/>
          </p:cNvCxnSpPr>
          <p:nvPr/>
        </p:nvCxnSpPr>
        <p:spPr>
          <a:xfrm>
            <a:off x="2504770" y="3429000"/>
            <a:ext cx="35912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8C522D9B-4470-9324-26F5-A91C334A8FC6}"/>
              </a:ext>
            </a:extLst>
          </p:cNvPr>
          <p:cNvSpPr/>
          <p:nvPr/>
        </p:nvSpPr>
        <p:spPr>
          <a:xfrm flipH="1" flipV="1">
            <a:off x="2420433" y="3401889"/>
            <a:ext cx="101954" cy="54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AADBFDE-F37E-FAE7-2615-1D2871F0EF0C}"/>
              </a:ext>
            </a:extLst>
          </p:cNvPr>
          <p:cNvSpPr/>
          <p:nvPr/>
        </p:nvSpPr>
        <p:spPr>
          <a:xfrm flipH="1" flipV="1">
            <a:off x="6050607" y="3401889"/>
            <a:ext cx="101954" cy="54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1ED49E-8735-2142-9956-E737EC1B6D99}"/>
              </a:ext>
            </a:extLst>
          </p:cNvPr>
          <p:cNvSpPr txBox="1"/>
          <p:nvPr/>
        </p:nvSpPr>
        <p:spPr>
          <a:xfrm>
            <a:off x="2531139" y="5556504"/>
            <a:ext cx="1894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Sameeksha H</a:t>
            </a:r>
          </a:p>
          <a:p>
            <a:r>
              <a:rPr lang="en-US" dirty="0">
                <a:solidFill>
                  <a:schemeClr val="bg1"/>
                </a:solidFill>
              </a:rPr>
              <a:t>Shreya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2" name="Graphic 71" descr="Graduation cap with solid fill">
            <a:extLst>
              <a:ext uri="{FF2B5EF4-FFF2-40B4-BE49-F238E27FC236}">
                <a16:creationId xmlns:a16="http://schemas.microsoft.com/office/drawing/2014/main" id="{E14CDBC6-DF9B-BF9D-65D0-CB2A86346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5737" y="5554482"/>
            <a:ext cx="442873" cy="442873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AFDC93C3-8627-F4C0-A3B6-BE50E863C421}"/>
              </a:ext>
            </a:extLst>
          </p:cNvPr>
          <p:cNvSpPr/>
          <p:nvPr/>
        </p:nvSpPr>
        <p:spPr>
          <a:xfrm>
            <a:off x="4812982" y="5533667"/>
            <a:ext cx="499668" cy="484502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84EBCF-4CF8-B4C4-F1AB-4AF88DCED567}"/>
              </a:ext>
            </a:extLst>
          </p:cNvPr>
          <p:cNvSpPr txBox="1"/>
          <p:nvPr/>
        </p:nvSpPr>
        <p:spPr>
          <a:xfrm>
            <a:off x="5288610" y="5548054"/>
            <a:ext cx="2327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Department:</a:t>
            </a:r>
          </a:p>
          <a:p>
            <a:r>
              <a:rPr lang="en-IN" sz="1500" dirty="0">
                <a:solidFill>
                  <a:schemeClr val="bg1"/>
                </a:solidFill>
              </a:rPr>
              <a:t>Electronics Engineering (VLSI Design &amp; Technology)</a:t>
            </a:r>
          </a:p>
        </p:txBody>
      </p:sp>
      <p:pic>
        <p:nvPicPr>
          <p:cNvPr id="76" name="Graphic 75" descr="Schoolhouse with solid fill">
            <a:extLst>
              <a:ext uri="{FF2B5EF4-FFF2-40B4-BE49-F238E27FC236}">
                <a16:creationId xmlns:a16="http://schemas.microsoft.com/office/drawing/2014/main" id="{666636F3-5B43-C8C2-02C8-9CCC60153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6008" y="5414207"/>
            <a:ext cx="581025" cy="490289"/>
          </a:xfrm>
          <a:prstGeom prst="rect">
            <a:avLst/>
          </a:prstGeom>
        </p:spPr>
      </p:pic>
      <p:sp>
        <p:nvSpPr>
          <p:cNvPr id="78" name="Oval 77">
            <a:extLst>
              <a:ext uri="{FF2B5EF4-FFF2-40B4-BE49-F238E27FC236}">
                <a16:creationId xmlns:a16="http://schemas.microsoft.com/office/drawing/2014/main" id="{D5D4B8B7-108F-1638-4751-9229EAE4D666}"/>
              </a:ext>
            </a:extLst>
          </p:cNvPr>
          <p:cNvSpPr/>
          <p:nvPr/>
        </p:nvSpPr>
        <p:spPr>
          <a:xfrm>
            <a:off x="7886686" y="5440719"/>
            <a:ext cx="499668" cy="484502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DB2270-F956-08F8-E083-A3BC6696DB37}"/>
              </a:ext>
            </a:extLst>
          </p:cNvPr>
          <p:cNvSpPr txBox="1"/>
          <p:nvPr/>
        </p:nvSpPr>
        <p:spPr>
          <a:xfrm>
            <a:off x="8330369" y="5501639"/>
            <a:ext cx="195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College: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676283-BA1B-9357-6999-DAEC23A56A02}"/>
              </a:ext>
            </a:extLst>
          </p:cNvPr>
          <p:cNvSpPr txBox="1"/>
          <p:nvPr/>
        </p:nvSpPr>
        <p:spPr>
          <a:xfrm>
            <a:off x="8330369" y="5785634"/>
            <a:ext cx="35675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NMAM Institute of Technology,</a:t>
            </a:r>
          </a:p>
          <a:p>
            <a:r>
              <a:rPr lang="en-US" sz="1500" dirty="0">
                <a:solidFill>
                  <a:schemeClr val="bg1"/>
                </a:solidFill>
              </a:rPr>
              <a:t>Nitte</a:t>
            </a:r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296F23-D8F8-422A-4156-184F6F6E5471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286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6ADB6-911D-BE7D-8FDB-0BEA30EE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BF47AB7-9E84-9DCB-CED6-E051F9B19D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3" name="Rectangle: Rounded Corners 2">
            <a:extLst>
              <a:ext uri="{FF2B5EF4-FFF2-40B4-BE49-F238E27FC236}">
                <a16:creationId xmlns:a16="http://schemas.microsoft.com/office/drawing/2014/main" id="{A9AE0F40-FA0A-712B-756A-2EDB48D6E3A8}"/>
              </a:ext>
            </a:extLst>
          </p:cNvPr>
          <p:cNvSpPr/>
          <p:nvPr/>
        </p:nvSpPr>
        <p:spPr>
          <a:xfrm>
            <a:off x="5978013" y="1206909"/>
            <a:ext cx="973393" cy="3854246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5" name="Rectangle: Rounded Corners 4">
            <a:extLst>
              <a:ext uri="{FF2B5EF4-FFF2-40B4-BE49-F238E27FC236}">
                <a16:creationId xmlns:a16="http://schemas.microsoft.com/office/drawing/2014/main" id="{BF2C24F9-4464-DAF3-2CA2-D82CCB9B0F03}"/>
              </a:ext>
            </a:extLst>
          </p:cNvPr>
          <p:cNvSpPr/>
          <p:nvPr/>
        </p:nvSpPr>
        <p:spPr>
          <a:xfrm>
            <a:off x="7064477" y="823451"/>
            <a:ext cx="973393" cy="4621163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D7CF3-3B11-AEFE-D375-0FB90FB070F7}"/>
              </a:ext>
            </a:extLst>
          </p:cNvPr>
          <p:cNvSpPr/>
          <p:nvPr/>
        </p:nvSpPr>
        <p:spPr>
          <a:xfrm>
            <a:off x="8150941" y="1002889"/>
            <a:ext cx="973393" cy="4262286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6A6C3A87-1610-1F7F-5C5E-0D88462E30B2}"/>
              </a:ext>
            </a:extLst>
          </p:cNvPr>
          <p:cNvSpPr/>
          <p:nvPr/>
        </p:nvSpPr>
        <p:spPr>
          <a:xfrm>
            <a:off x="9237405" y="614515"/>
            <a:ext cx="973393" cy="5039034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E41B4E-9944-154B-C9E9-C936AB2E9F27}"/>
              </a:ext>
            </a:extLst>
          </p:cNvPr>
          <p:cNvSpPr/>
          <p:nvPr/>
        </p:nvSpPr>
        <p:spPr>
          <a:xfrm>
            <a:off x="10323869" y="862781"/>
            <a:ext cx="973393" cy="4542503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1CB240-1183-2EEF-4B47-E22E5DD0A5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444911" y="2552720"/>
            <a:ext cx="1828800" cy="1828800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014CC5-2A36-6681-5FBD-9AF3F9C213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892280" y="5597252"/>
            <a:ext cx="914400" cy="914400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BDBF6D-2264-2A1C-F67A-5051FAAC54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892280" y="4532186"/>
            <a:ext cx="914400" cy="914400"/>
          </a:xfrm>
          <a:prstGeom prst="ellipse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7B627F4-AA09-B4DF-A450-1446E0E1B2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892280" y="6662318"/>
            <a:ext cx="914400" cy="914400"/>
          </a:xfrm>
          <a:prstGeom prst="ellipse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B10DDB-2104-1B0D-F460-3766D1CBC76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902111" y="1487654"/>
            <a:ext cx="914400" cy="914400"/>
          </a:xfrm>
          <a:prstGeom prst="ellipse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E66043E-8AA1-75B1-0ACB-249360DE2E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892280" y="7727384"/>
            <a:ext cx="914400" cy="914400"/>
          </a:xfrm>
          <a:prstGeom prst="ellipse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B29775-D6C4-8E6E-ED50-03F9F18CC9BF}"/>
              </a:ext>
            </a:extLst>
          </p:cNvPr>
          <p:cNvSpPr txBox="1"/>
          <p:nvPr/>
        </p:nvSpPr>
        <p:spPr>
          <a:xfrm>
            <a:off x="1996121" y="193467"/>
            <a:ext cx="4878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PROJECT OVERVIEW</a:t>
            </a:r>
            <a:endParaRPr lang="en-IN" sz="40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44FD88-384B-B22E-1935-D6AEF9AC2A35}"/>
              </a:ext>
            </a:extLst>
          </p:cNvPr>
          <p:cNvCxnSpPr/>
          <p:nvPr/>
        </p:nvCxnSpPr>
        <p:spPr>
          <a:xfrm>
            <a:off x="1996121" y="901353"/>
            <a:ext cx="3703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9539124-270B-EB6D-15AD-46B079CD9D9D}"/>
              </a:ext>
            </a:extLst>
          </p:cNvPr>
          <p:cNvSpPr txBox="1"/>
          <p:nvPr/>
        </p:nvSpPr>
        <p:spPr>
          <a:xfrm>
            <a:off x="2408906" y="1250505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gency FB" panose="020B0503020202020204" pitchFamily="34" charset="0"/>
              </a:rPr>
              <a:t>PROBLEM STATEMENT</a:t>
            </a:r>
            <a:endParaRPr lang="en-IN" dirty="0">
              <a:solidFill>
                <a:schemeClr val="accent2"/>
              </a:solidFill>
              <a:latin typeface="Agency FB" panose="020B05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BFB71B-C964-32AC-2CDD-48C5C69FD0BF}"/>
              </a:ext>
            </a:extLst>
          </p:cNvPr>
          <p:cNvSpPr txBox="1"/>
          <p:nvPr/>
        </p:nvSpPr>
        <p:spPr>
          <a:xfrm>
            <a:off x="2395466" y="1614822"/>
            <a:ext cx="39272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Existing UART communication systems often rely on software processing, which increases latency and reduces real-time performance. A hardware-based solution is needed to receive, process, validate, and respond to UART commands quickly and reliably. This project implements an FPGA-based UART command processing and response generation system using Verilog to achieve fast, deterministic, and real-time communication.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DABED-31DC-0923-E471-886D2460E01E}"/>
              </a:ext>
            </a:extLst>
          </p:cNvPr>
          <p:cNvSpPr txBox="1"/>
          <p:nvPr/>
        </p:nvSpPr>
        <p:spPr>
          <a:xfrm>
            <a:off x="2386782" y="302910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gency FB" panose="020B0503020202020204" pitchFamily="34" charset="0"/>
              </a:rPr>
              <a:t>OBJECTIVE</a:t>
            </a:r>
            <a:endParaRPr lang="en-IN" dirty="0">
              <a:solidFill>
                <a:schemeClr val="accent2"/>
              </a:solidFill>
              <a:latin typeface="Agency FB" panose="020B0503020202020204" pitchFamily="34" charset="0"/>
            </a:endParaRP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E6136D-9AEE-D00A-657C-88FB5801F4B0}"/>
              </a:ext>
            </a:extLst>
          </p:cNvPr>
          <p:cNvSpPr txBox="1"/>
          <p:nvPr/>
        </p:nvSpPr>
        <p:spPr>
          <a:xfrm>
            <a:off x="2368822" y="3350556"/>
            <a:ext cx="26606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• Receive UART commands from a PC.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 Decode commands using Verilog.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 Execute the requested operation.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 Generate acknowledgment.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 Enable real-time communication.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06776F-39A6-D172-2E41-BD61188A9A18}"/>
              </a:ext>
            </a:extLst>
          </p:cNvPr>
          <p:cNvSpPr txBox="1"/>
          <p:nvPr/>
        </p:nvSpPr>
        <p:spPr>
          <a:xfrm>
            <a:off x="2391840" y="4345409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gency FB" panose="020B0503020202020204" pitchFamily="34" charset="0"/>
              </a:rPr>
              <a:t>KEY FEATURES</a:t>
            </a:r>
            <a:endParaRPr lang="en-IN" dirty="0">
              <a:solidFill>
                <a:schemeClr val="accent2"/>
              </a:solidFill>
              <a:latin typeface="Agency FB" panose="020B0503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785983-B124-03D1-6AED-F90F02A28BB5}"/>
              </a:ext>
            </a:extLst>
          </p:cNvPr>
          <p:cNvSpPr txBox="1"/>
          <p:nvPr/>
        </p:nvSpPr>
        <p:spPr>
          <a:xfrm>
            <a:off x="2313040" y="4662188"/>
            <a:ext cx="19956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✔ Real-time UART Communication</a:t>
            </a:r>
          </a:p>
          <a:p>
            <a:r>
              <a:rPr lang="en-US" sz="1000" dirty="0">
                <a:solidFill>
                  <a:schemeClr val="bg1"/>
                </a:solidFill>
              </a:rPr>
              <a:t>✔ Two-way Data Transfer</a:t>
            </a:r>
          </a:p>
          <a:p>
            <a:r>
              <a:rPr lang="en-US" sz="1000" dirty="0">
                <a:solidFill>
                  <a:schemeClr val="bg1"/>
                </a:solidFill>
              </a:rPr>
              <a:t>✔ Hardware-based Processing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6B2575-12DB-4015-4C1A-6F4E97A305AA}"/>
              </a:ext>
            </a:extLst>
          </p:cNvPr>
          <p:cNvSpPr txBox="1"/>
          <p:nvPr/>
        </p:nvSpPr>
        <p:spPr>
          <a:xfrm>
            <a:off x="4450450" y="4658402"/>
            <a:ext cx="15691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✔ Low Latency</a:t>
            </a:r>
          </a:p>
          <a:p>
            <a:r>
              <a:rPr lang="en-US" sz="1000" dirty="0">
                <a:solidFill>
                  <a:schemeClr val="bg1"/>
                </a:solidFill>
              </a:rPr>
              <a:t>✔ Reliable Operation</a:t>
            </a:r>
          </a:p>
          <a:p>
            <a:r>
              <a:rPr lang="en-US" sz="1000" dirty="0">
                <a:solidFill>
                  <a:schemeClr val="bg1"/>
                </a:solidFill>
              </a:rPr>
              <a:t>✔ Modular Verilog Design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3319A7-59EF-68ED-66BA-FF557046DDDF}"/>
              </a:ext>
            </a:extLst>
          </p:cNvPr>
          <p:cNvSpPr txBox="1"/>
          <p:nvPr/>
        </p:nvSpPr>
        <p:spPr>
          <a:xfrm>
            <a:off x="2313040" y="5464319"/>
            <a:ext cx="241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gency FB" panose="020B0503020202020204" pitchFamily="34" charset="0"/>
              </a:rPr>
              <a:t>EXPECTED OUTCOME</a:t>
            </a:r>
            <a:endParaRPr lang="en-IN" dirty="0">
              <a:solidFill>
                <a:schemeClr val="accent2"/>
              </a:solidFill>
              <a:latin typeface="Agency FB" panose="020B0503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8508AE-FA87-15CD-4BAD-F3BFD89455AF}"/>
              </a:ext>
            </a:extLst>
          </p:cNvPr>
          <p:cNvSpPr txBox="1"/>
          <p:nvPr/>
        </p:nvSpPr>
        <p:spPr>
          <a:xfrm>
            <a:off x="2313040" y="5804785"/>
            <a:ext cx="3124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 real-time FPGA system capable of receiving,</a:t>
            </a:r>
          </a:p>
          <a:p>
            <a:r>
              <a:rPr lang="en-US" sz="1000" dirty="0">
                <a:solidFill>
                  <a:schemeClr val="bg1"/>
                </a:solidFill>
              </a:rPr>
              <a:t>processing and responding to UART commands</a:t>
            </a:r>
          </a:p>
          <a:p>
            <a:r>
              <a:rPr lang="en-US" sz="1000" dirty="0">
                <a:solidFill>
                  <a:schemeClr val="bg1"/>
                </a:solidFill>
              </a:rPr>
              <a:t>efficiently with high reliability</a:t>
            </a:r>
            <a:endParaRPr lang="en-IN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A4C0F-AA61-94D6-F28B-F3CE5D9FCFDA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80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A8532-456F-2A6D-2C5A-6379138D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E32A2CA-17F0-24FF-99FF-3E7EC12B353A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3" name="Rectangle: Rounded Corners 2">
            <a:extLst>
              <a:ext uri="{FF2B5EF4-FFF2-40B4-BE49-F238E27FC236}">
                <a16:creationId xmlns:a16="http://schemas.microsoft.com/office/drawing/2014/main" id="{6C5D1CDF-CBB0-142B-9225-E6BF7CAF5A67}"/>
              </a:ext>
            </a:extLst>
          </p:cNvPr>
          <p:cNvSpPr/>
          <p:nvPr/>
        </p:nvSpPr>
        <p:spPr>
          <a:xfrm>
            <a:off x="5978013" y="870154"/>
            <a:ext cx="973393" cy="451300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5" name="Rectangle: Rounded Corners 4">
            <a:extLst>
              <a:ext uri="{FF2B5EF4-FFF2-40B4-BE49-F238E27FC236}">
                <a16:creationId xmlns:a16="http://schemas.microsoft.com/office/drawing/2014/main" id="{6D1B2C01-9F77-1F6B-76B2-9B911903B3E0}"/>
              </a:ext>
            </a:extLst>
          </p:cNvPr>
          <p:cNvSpPr/>
          <p:nvPr/>
        </p:nvSpPr>
        <p:spPr>
          <a:xfrm>
            <a:off x="7064477" y="1042218"/>
            <a:ext cx="973393" cy="416887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7" name="Rectangle: Rounded Corners 6">
            <a:extLst>
              <a:ext uri="{FF2B5EF4-FFF2-40B4-BE49-F238E27FC236}">
                <a16:creationId xmlns:a16="http://schemas.microsoft.com/office/drawing/2014/main" id="{4CCFA529-710B-203A-80C0-5925215AF583}"/>
              </a:ext>
            </a:extLst>
          </p:cNvPr>
          <p:cNvSpPr/>
          <p:nvPr/>
        </p:nvSpPr>
        <p:spPr>
          <a:xfrm>
            <a:off x="8150941" y="710379"/>
            <a:ext cx="973393" cy="4832556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2F33106A-04C3-8764-0FE1-CDC39BDF2B3E}"/>
              </a:ext>
            </a:extLst>
          </p:cNvPr>
          <p:cNvSpPr/>
          <p:nvPr/>
        </p:nvSpPr>
        <p:spPr>
          <a:xfrm>
            <a:off x="9237405" y="1189702"/>
            <a:ext cx="973393" cy="387391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E1511C-1A44-1572-72D4-06D94DB14286}"/>
              </a:ext>
            </a:extLst>
          </p:cNvPr>
          <p:cNvSpPr/>
          <p:nvPr/>
        </p:nvSpPr>
        <p:spPr>
          <a:xfrm>
            <a:off x="10323869" y="700547"/>
            <a:ext cx="973393" cy="485222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794827-5CF7-1B4F-BB9D-9C9ACC09A8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894738" y="1340627"/>
            <a:ext cx="914400" cy="914400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CD1D14-3ABF-7FC8-00E7-271E02C033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894738" y="4449587"/>
            <a:ext cx="914400" cy="914400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4770E6-7B94-A12C-B950-0AFD7E0249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437538" y="2437907"/>
            <a:ext cx="1828800" cy="1828800"/>
          </a:xfrm>
          <a:prstGeom prst="ellipse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5FD554-3248-A138-8B24-BB08E388CE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894738" y="5546867"/>
            <a:ext cx="914400" cy="914400"/>
          </a:xfrm>
          <a:prstGeom prst="ellipse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0351B2-2ADC-F871-1379-E502D443577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894738" y="243347"/>
            <a:ext cx="914400" cy="914400"/>
          </a:xfrm>
          <a:prstGeom prst="ellipse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C26CB6-D68B-2AD9-1862-C647D1F08F7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894738" y="6644147"/>
            <a:ext cx="914400" cy="914400"/>
          </a:xfrm>
          <a:prstGeom prst="ellipse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DAE294-D576-A186-3B9D-5012041B1801}"/>
              </a:ext>
            </a:extLst>
          </p:cNvPr>
          <p:cNvSpPr txBox="1"/>
          <p:nvPr/>
        </p:nvSpPr>
        <p:spPr>
          <a:xfrm>
            <a:off x="1967990" y="87436"/>
            <a:ext cx="5096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B0F0"/>
                </a:solidFill>
                <a:latin typeface="Agency FB" panose="020B0503020202020204" pitchFamily="34" charset="0"/>
              </a:rPr>
              <a:t>SYSTEM WORKFLOW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3576B-5A12-411A-55D0-FBBE055ECDAA}"/>
              </a:ext>
            </a:extLst>
          </p:cNvPr>
          <p:cNvSpPr txBox="1"/>
          <p:nvPr/>
        </p:nvSpPr>
        <p:spPr>
          <a:xfrm>
            <a:off x="2266338" y="669516"/>
            <a:ext cx="400756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PC / Python Terminal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Sends UART commands to the FPGA.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USB-to-UART Interface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Converts USB data into UART serial communication.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UART Receiver (RX)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Receives serial data from the PC.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Command Decoder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Decodes and identifies the received command.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Command Processing Unit (Verilog)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Processes the command and performs the required operation.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LED / Output Control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Controls LEDs or other output devices based on the command.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UART Transmitter (TX)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Transmits the processed response back to the PC.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ACK / Response to PC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Sends an acknowledgment or response indicating successful command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56D0C2-2504-0563-09EF-3F597E93F535}"/>
              </a:ext>
            </a:extLst>
          </p:cNvPr>
          <p:cNvCxnSpPr/>
          <p:nvPr/>
        </p:nvCxnSpPr>
        <p:spPr>
          <a:xfrm>
            <a:off x="2057400" y="610656"/>
            <a:ext cx="25622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F507097-9505-BC7D-C752-81E35562D435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55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43871-758B-C0DC-8B2B-2A89D396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027592B-0EF7-261D-5EC6-4F46493E726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3" name="Rectangle: Rounded Corners 2">
            <a:extLst>
              <a:ext uri="{FF2B5EF4-FFF2-40B4-BE49-F238E27FC236}">
                <a16:creationId xmlns:a16="http://schemas.microsoft.com/office/drawing/2014/main" id="{FD04B21E-AB60-5599-63D6-37FFBD8120E7}"/>
              </a:ext>
            </a:extLst>
          </p:cNvPr>
          <p:cNvSpPr/>
          <p:nvPr/>
        </p:nvSpPr>
        <p:spPr>
          <a:xfrm>
            <a:off x="5978013" y="1243779"/>
            <a:ext cx="973393" cy="4011562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5" name="Rectangle: Rounded Corners 4">
            <a:extLst>
              <a:ext uri="{FF2B5EF4-FFF2-40B4-BE49-F238E27FC236}">
                <a16:creationId xmlns:a16="http://schemas.microsoft.com/office/drawing/2014/main" id="{B61DCCF7-A688-D928-5C2F-606163433A3D}"/>
              </a:ext>
            </a:extLst>
          </p:cNvPr>
          <p:cNvSpPr/>
          <p:nvPr/>
        </p:nvSpPr>
        <p:spPr>
          <a:xfrm>
            <a:off x="7064477" y="1165121"/>
            <a:ext cx="973393" cy="416887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7" name="Rectangle: Rounded Corners 6">
            <a:extLst>
              <a:ext uri="{FF2B5EF4-FFF2-40B4-BE49-F238E27FC236}">
                <a16:creationId xmlns:a16="http://schemas.microsoft.com/office/drawing/2014/main" id="{AEC319D5-F79E-90F7-7AEF-77EF9992DC6B}"/>
              </a:ext>
            </a:extLst>
          </p:cNvPr>
          <p:cNvSpPr/>
          <p:nvPr/>
        </p:nvSpPr>
        <p:spPr>
          <a:xfrm>
            <a:off x="8150941" y="938979"/>
            <a:ext cx="973393" cy="4621163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9BB0B013-D7A8-581B-68FB-C0429ABD57F2}"/>
              </a:ext>
            </a:extLst>
          </p:cNvPr>
          <p:cNvSpPr/>
          <p:nvPr/>
        </p:nvSpPr>
        <p:spPr>
          <a:xfrm>
            <a:off x="9237405" y="1322437"/>
            <a:ext cx="973393" cy="385424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540066-BA1B-F65A-8823-E6E4FD5670EE}"/>
              </a:ext>
            </a:extLst>
          </p:cNvPr>
          <p:cNvSpPr/>
          <p:nvPr/>
        </p:nvSpPr>
        <p:spPr>
          <a:xfrm>
            <a:off x="10323869" y="481780"/>
            <a:ext cx="973393" cy="553556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981DD8-EECE-BA61-7093-E9A0D2251C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894738" y="361177"/>
            <a:ext cx="914400" cy="914400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B06418-8EC7-ED7A-C08A-B64DA51431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437538" y="2551153"/>
            <a:ext cx="1828800" cy="1828800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0D4C8A-934E-1E23-EAC7-33C27BB3239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880863" y="1462207"/>
            <a:ext cx="914400" cy="914400"/>
          </a:xfrm>
          <a:prstGeom prst="ellipse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FC05A6-0593-6EF3-D220-EFE27CFEE57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901713" y="4554499"/>
            <a:ext cx="914400" cy="914400"/>
          </a:xfrm>
          <a:prstGeom prst="ellipse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190A12-6316-70E2-0449-43DE20E864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894738" y="-692422"/>
            <a:ext cx="914400" cy="914400"/>
          </a:xfrm>
          <a:prstGeom prst="ellipse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63210A5-F27B-C1FE-DCB2-7D4705B217D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901713" y="5643445"/>
            <a:ext cx="914400" cy="914400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4CC7CA3-4090-87AF-1E60-C52A07466CB9}"/>
              </a:ext>
            </a:extLst>
          </p:cNvPr>
          <p:cNvSpPr txBox="1"/>
          <p:nvPr/>
        </p:nvSpPr>
        <p:spPr>
          <a:xfrm>
            <a:off x="2181225" y="130344"/>
            <a:ext cx="3914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Agency FB" panose="020B0503020202020204" pitchFamily="34" charset="0"/>
              </a:rPr>
              <a:t>PROJECT IMPLEMENTATION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C1C2EB-5297-10D0-32BA-F96B99932C4F}"/>
              </a:ext>
            </a:extLst>
          </p:cNvPr>
          <p:cNvSpPr txBox="1"/>
          <p:nvPr/>
        </p:nvSpPr>
        <p:spPr>
          <a:xfrm>
            <a:off x="1981202" y="1196102"/>
            <a:ext cx="5334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Agency FB" panose="020B0503020202020204" pitchFamily="34" charset="0"/>
              </a:rPr>
              <a:t>HARDWARE USED                  SOFTWARE USED</a:t>
            </a:r>
          </a:p>
          <a:p>
            <a:r>
              <a:rPr lang="en-IN" dirty="0">
                <a:solidFill>
                  <a:schemeClr val="bg1"/>
                </a:solidFill>
              </a:rPr>
              <a:t>• FPGA Board                 • Verilog HDL</a:t>
            </a:r>
          </a:p>
          <a:p>
            <a:r>
              <a:rPr lang="en-IN" dirty="0">
                <a:solidFill>
                  <a:schemeClr val="bg1"/>
                </a:solidFill>
              </a:rPr>
              <a:t>• USB-UART                    • </a:t>
            </a:r>
            <a:r>
              <a:rPr lang="en-IN" dirty="0" err="1">
                <a:solidFill>
                  <a:schemeClr val="bg1"/>
                </a:solidFill>
              </a:rPr>
              <a:t>Vivado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• PC                                  • Serial Terminal </a:t>
            </a:r>
          </a:p>
          <a:p>
            <a:r>
              <a:rPr lang="en-IN" dirty="0">
                <a:solidFill>
                  <a:schemeClr val="bg1"/>
                </a:solidFill>
              </a:rPr>
              <a:t>• LED                                • UART Protocol</a:t>
            </a:r>
            <a:endParaRPr lang="en-IN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76F375-302D-6410-ECEA-763663C0244C}"/>
              </a:ext>
            </a:extLst>
          </p:cNvPr>
          <p:cNvSpPr txBox="1"/>
          <p:nvPr/>
        </p:nvSpPr>
        <p:spPr>
          <a:xfrm>
            <a:off x="2335047" y="4226004"/>
            <a:ext cx="297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Agency FB" panose="020B0503020202020204" pitchFamily="34" charset="0"/>
              </a:rPr>
              <a:t>MODULES IMPLEMENTED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966A7-A742-065E-7E4A-8D692568DEC6}"/>
              </a:ext>
            </a:extLst>
          </p:cNvPr>
          <p:cNvSpPr txBox="1"/>
          <p:nvPr/>
        </p:nvSpPr>
        <p:spPr>
          <a:xfrm>
            <a:off x="2371725" y="4595336"/>
            <a:ext cx="2686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• UART RX</a:t>
            </a:r>
          </a:p>
          <a:p>
            <a:r>
              <a:rPr lang="en-IN" dirty="0">
                <a:solidFill>
                  <a:schemeClr val="bg1"/>
                </a:solidFill>
              </a:rPr>
              <a:t>• Command Decoder </a:t>
            </a:r>
          </a:p>
          <a:p>
            <a:r>
              <a:rPr lang="en-IN" dirty="0">
                <a:solidFill>
                  <a:schemeClr val="bg1"/>
                </a:solidFill>
              </a:rPr>
              <a:t>• Control Logic </a:t>
            </a:r>
          </a:p>
          <a:p>
            <a:r>
              <a:rPr lang="en-IN" dirty="0">
                <a:solidFill>
                  <a:schemeClr val="bg1"/>
                </a:solidFill>
              </a:rPr>
              <a:t>• UART TX </a:t>
            </a:r>
          </a:p>
          <a:p>
            <a:r>
              <a:rPr lang="en-IN" dirty="0">
                <a:solidFill>
                  <a:schemeClr val="bg1"/>
                </a:solidFill>
              </a:rPr>
              <a:t>• LED Controller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3CBEA5-5123-20A2-700D-E822E6F551EF}"/>
              </a:ext>
            </a:extLst>
          </p:cNvPr>
          <p:cNvCxnSpPr/>
          <p:nvPr/>
        </p:nvCxnSpPr>
        <p:spPr>
          <a:xfrm>
            <a:off x="2266338" y="592009"/>
            <a:ext cx="2791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346D63-0B16-2526-94BF-4E4D63DE5F26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642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09829-D44D-C657-8CAC-3EACE8D4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22383B4-354C-EB54-E124-1A8972F9A8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E3182E2-A6C7-0817-FF94-CC845945121B}"/>
              </a:ext>
            </a:extLst>
          </p:cNvPr>
          <p:cNvSpPr/>
          <p:nvPr/>
        </p:nvSpPr>
        <p:spPr>
          <a:xfrm>
            <a:off x="5978013" y="1243779"/>
            <a:ext cx="973393" cy="3318696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279F72C-174A-6FC0-A456-CC63D3AC4F40}"/>
              </a:ext>
            </a:extLst>
          </p:cNvPr>
          <p:cNvSpPr/>
          <p:nvPr/>
        </p:nvSpPr>
        <p:spPr>
          <a:xfrm>
            <a:off x="7064477" y="1165121"/>
            <a:ext cx="973393" cy="416887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0DAC2AA-752E-2F47-3C95-A28B825F3206}"/>
              </a:ext>
            </a:extLst>
          </p:cNvPr>
          <p:cNvSpPr/>
          <p:nvPr/>
        </p:nvSpPr>
        <p:spPr>
          <a:xfrm>
            <a:off x="8150941" y="938979"/>
            <a:ext cx="973393" cy="492842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BA9273A-A660-08DE-CE20-02DAF3B2A1F6}"/>
              </a:ext>
            </a:extLst>
          </p:cNvPr>
          <p:cNvSpPr/>
          <p:nvPr/>
        </p:nvSpPr>
        <p:spPr>
          <a:xfrm>
            <a:off x="9237405" y="1322438"/>
            <a:ext cx="973393" cy="324003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CFBEE82-83CD-B02E-6645-1623C9374746}"/>
              </a:ext>
            </a:extLst>
          </p:cNvPr>
          <p:cNvSpPr/>
          <p:nvPr/>
        </p:nvSpPr>
        <p:spPr>
          <a:xfrm>
            <a:off x="10323869" y="481781"/>
            <a:ext cx="973393" cy="4442644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19740FF-7810-9E2E-883A-174C1783CF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700555" y="-1089513"/>
            <a:ext cx="914400" cy="914400"/>
          </a:xfrm>
          <a:prstGeom prst="ellipse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F131B7B-F746-0389-FF3E-1CD8352DF1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778832" y="1240052"/>
            <a:ext cx="914400" cy="914400"/>
          </a:xfrm>
          <a:prstGeom prst="ellipse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35E7F2-81D5-DFFB-12C5-2C81B744AB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778832" y="150538"/>
            <a:ext cx="914400" cy="914400"/>
          </a:xfrm>
          <a:prstGeom prst="ellipse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0E3FF96-7D1A-72E5-CB0D-63231075B9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437538" y="2386560"/>
            <a:ext cx="1828800" cy="1828800"/>
          </a:xfrm>
          <a:prstGeom prst="ellipse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CB75B3B-3E17-51B2-C0C4-EA3A01689A6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700555" y="-2179027"/>
            <a:ext cx="914400" cy="914400"/>
          </a:xfrm>
          <a:prstGeom prst="ellipse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579321D-26F0-BE57-10F4-1478587396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778832" y="4450871"/>
            <a:ext cx="914400" cy="914400"/>
          </a:xfrm>
          <a:prstGeom prst="ellipse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22421BD-E209-8423-5CF5-0EEDCB3702EA}"/>
              </a:ext>
            </a:extLst>
          </p:cNvPr>
          <p:cNvSpPr txBox="1"/>
          <p:nvPr/>
        </p:nvSpPr>
        <p:spPr>
          <a:xfrm>
            <a:off x="2428875" y="3429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Agency FB" panose="020B0503020202020204" pitchFamily="34" charset="0"/>
              </a:rPr>
              <a:t>RESULT AND DEMONSTRATION</a:t>
            </a:r>
          </a:p>
          <a:p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4B6BB6-6BC7-F82E-A710-7E95A6F357F4}"/>
              </a:ext>
            </a:extLst>
          </p:cNvPr>
          <p:cNvSpPr txBox="1"/>
          <p:nvPr/>
        </p:nvSpPr>
        <p:spPr>
          <a:xfrm>
            <a:off x="2196588" y="1332130"/>
            <a:ext cx="3781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✔ UART communication established</a:t>
            </a:r>
          </a:p>
          <a:p>
            <a:r>
              <a:rPr lang="en-IN" dirty="0">
                <a:solidFill>
                  <a:schemeClr val="bg1"/>
                </a:solidFill>
              </a:rPr>
              <a:t>✔ Commands processed successfully</a:t>
            </a:r>
          </a:p>
          <a:p>
            <a:r>
              <a:rPr lang="en-IN" dirty="0">
                <a:solidFill>
                  <a:schemeClr val="bg1"/>
                </a:solidFill>
              </a:rPr>
              <a:t>✔ LED controlled in real time</a:t>
            </a:r>
          </a:p>
          <a:p>
            <a:r>
              <a:rPr lang="en-IN" dirty="0">
                <a:solidFill>
                  <a:schemeClr val="bg1"/>
                </a:solidFill>
              </a:rPr>
              <a:t>✔ ACK response received</a:t>
            </a:r>
          </a:p>
          <a:p>
            <a:r>
              <a:rPr lang="en-IN" dirty="0">
                <a:solidFill>
                  <a:schemeClr val="bg1"/>
                </a:solidFill>
              </a:rPr>
              <a:t>✔ Stable and reliable operation</a:t>
            </a:r>
          </a:p>
          <a:p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18534D-5747-05A9-19BB-6C20C455C2FF}"/>
              </a:ext>
            </a:extLst>
          </p:cNvPr>
          <p:cNvSpPr txBox="1"/>
          <p:nvPr/>
        </p:nvSpPr>
        <p:spPr>
          <a:xfrm>
            <a:off x="2266338" y="1034501"/>
            <a:ext cx="286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gency FB" panose="020B0503020202020204" pitchFamily="34" charset="0"/>
              </a:rPr>
              <a:t>DEMONSTRATION RESULTS</a:t>
            </a:r>
            <a:endParaRPr lang="en-IN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2C55B67-83B4-1500-3647-B43A90D6F461}"/>
              </a:ext>
            </a:extLst>
          </p:cNvPr>
          <p:cNvCxnSpPr/>
          <p:nvPr/>
        </p:nvCxnSpPr>
        <p:spPr>
          <a:xfrm>
            <a:off x="2428875" y="771525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86F8F5D-8906-B81B-04DD-81EBFB268179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801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B551C-BCF5-3CE9-055D-5BE89005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9CC4D3-48A8-D121-B50C-5D964FD0508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77F707-B0DA-7A1E-D154-5F0DD211DEB9}"/>
              </a:ext>
            </a:extLst>
          </p:cNvPr>
          <p:cNvSpPr/>
          <p:nvPr/>
        </p:nvSpPr>
        <p:spPr>
          <a:xfrm>
            <a:off x="5978013" y="1243779"/>
            <a:ext cx="973393" cy="285070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3E3D6F-086F-522D-0BAF-8A304A69F06C}"/>
              </a:ext>
            </a:extLst>
          </p:cNvPr>
          <p:cNvSpPr/>
          <p:nvPr/>
        </p:nvSpPr>
        <p:spPr>
          <a:xfrm>
            <a:off x="7064477" y="1165121"/>
            <a:ext cx="973393" cy="375888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00AC4D-A18C-8DFF-2CB8-6949661EFD86}"/>
              </a:ext>
            </a:extLst>
          </p:cNvPr>
          <p:cNvSpPr/>
          <p:nvPr/>
        </p:nvSpPr>
        <p:spPr>
          <a:xfrm>
            <a:off x="8150941" y="938979"/>
            <a:ext cx="973393" cy="420198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B2ED3D-E8D6-F1A3-DB98-86F5877EC73F}"/>
              </a:ext>
            </a:extLst>
          </p:cNvPr>
          <p:cNvSpPr/>
          <p:nvPr/>
        </p:nvSpPr>
        <p:spPr>
          <a:xfrm>
            <a:off x="9237405" y="1322437"/>
            <a:ext cx="973393" cy="3168283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53ED79-C714-43BC-76CD-3877CE45DF19}"/>
              </a:ext>
            </a:extLst>
          </p:cNvPr>
          <p:cNvSpPr/>
          <p:nvPr/>
        </p:nvSpPr>
        <p:spPr>
          <a:xfrm>
            <a:off x="10323869" y="481781"/>
            <a:ext cx="973393" cy="507574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ABD627-451D-68A0-8B15-4AE0F05835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886799" y="-1997075"/>
            <a:ext cx="914400" cy="914400"/>
          </a:xfrm>
          <a:prstGeom prst="ellipse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B1DF81-90A4-06DE-5134-7D5D6CD5AB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4" r="21434"/>
          <a:stretch>
            <a:fillRect/>
          </a:stretch>
        </p:blipFill>
        <p:spPr>
          <a:xfrm>
            <a:off x="933691" y="194743"/>
            <a:ext cx="914400" cy="914400"/>
          </a:xfrm>
          <a:prstGeom prst="ellips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AE5A29-ED75-E85B-8D9C-DE5E3113C9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933691" y="-914400"/>
            <a:ext cx="914400" cy="914400"/>
          </a:xfrm>
          <a:prstGeom prst="ellipse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2CDCBE7-27B6-4894-E846-5890EAB2BE7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5" r="21555"/>
          <a:stretch>
            <a:fillRect/>
          </a:stretch>
        </p:blipFill>
        <p:spPr>
          <a:xfrm>
            <a:off x="894738" y="1303885"/>
            <a:ext cx="914400" cy="914400"/>
          </a:xfrm>
          <a:prstGeom prst="ellipse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9626DAE-3E09-5570-F2D5-4583B67E746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3" r="23773"/>
          <a:stretch>
            <a:fillRect/>
          </a:stretch>
        </p:blipFill>
        <p:spPr>
          <a:xfrm>
            <a:off x="894738" y="-3106217"/>
            <a:ext cx="914400" cy="914400"/>
          </a:xfrm>
          <a:prstGeom prst="ellipse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25B3E80-C8CE-6251-D3F1-5A710848379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6" r="21906"/>
          <a:stretch>
            <a:fillRect/>
          </a:stretch>
        </p:blipFill>
        <p:spPr>
          <a:xfrm>
            <a:off x="437538" y="2386560"/>
            <a:ext cx="1828800" cy="1828800"/>
          </a:xfrm>
          <a:prstGeom prst="ellipse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8093C9-9BBF-EBF9-10AD-340D9B87D158}"/>
              </a:ext>
            </a:extLst>
          </p:cNvPr>
          <p:cNvSpPr txBox="1"/>
          <p:nvPr/>
        </p:nvSpPr>
        <p:spPr>
          <a:xfrm>
            <a:off x="45393" y="161925"/>
            <a:ext cx="66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609940-7F90-8DCD-CF15-340514FE5BA6}"/>
              </a:ext>
            </a:extLst>
          </p:cNvPr>
          <p:cNvSpPr txBox="1"/>
          <p:nvPr/>
        </p:nvSpPr>
        <p:spPr>
          <a:xfrm>
            <a:off x="2345455" y="328842"/>
            <a:ext cx="2152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Agency FB" panose="020B0503020202020204" pitchFamily="34" charset="0"/>
              </a:rPr>
              <a:t>APPLICATIONS</a:t>
            </a:r>
          </a:p>
          <a:p>
            <a:endParaRPr lang="en-IN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A722C5-FDBA-E32F-3C4B-49386FAF94CE}"/>
              </a:ext>
            </a:extLst>
          </p:cNvPr>
          <p:cNvSpPr txBox="1"/>
          <p:nvPr/>
        </p:nvSpPr>
        <p:spPr>
          <a:xfrm>
            <a:off x="2345455" y="740957"/>
            <a:ext cx="3676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• Industrial Automation </a:t>
            </a:r>
          </a:p>
          <a:p>
            <a:r>
              <a:rPr lang="en-IN" dirty="0">
                <a:solidFill>
                  <a:schemeClr val="bg1"/>
                </a:solidFill>
              </a:rPr>
              <a:t>• Robotics </a:t>
            </a:r>
          </a:p>
          <a:p>
            <a:r>
              <a:rPr lang="en-IN" dirty="0">
                <a:solidFill>
                  <a:schemeClr val="bg1"/>
                </a:solidFill>
              </a:rPr>
              <a:t>• Smart Home Systems</a:t>
            </a:r>
          </a:p>
          <a:p>
            <a:r>
              <a:rPr lang="en-IN" dirty="0">
                <a:solidFill>
                  <a:schemeClr val="bg1"/>
                </a:solidFill>
              </a:rPr>
              <a:t>• IoT Devices </a:t>
            </a:r>
          </a:p>
          <a:p>
            <a:r>
              <a:rPr lang="en-IN" dirty="0">
                <a:solidFill>
                  <a:schemeClr val="bg1"/>
                </a:solidFill>
              </a:rPr>
              <a:t>• Remote Hardware Control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84EC75-0AAB-FE00-84DA-56CF85E27B7E}"/>
              </a:ext>
            </a:extLst>
          </p:cNvPr>
          <p:cNvSpPr txBox="1"/>
          <p:nvPr/>
        </p:nvSpPr>
        <p:spPr>
          <a:xfrm>
            <a:off x="2299060" y="2720943"/>
            <a:ext cx="2333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gency FB" panose="020B0503020202020204" pitchFamily="34" charset="0"/>
              </a:rPr>
              <a:t>F</a:t>
            </a:r>
            <a:r>
              <a:rPr lang="en-IN" sz="2800" b="1" dirty="0">
                <a:solidFill>
                  <a:srgbClr val="00B0F0"/>
                </a:solidFill>
                <a:latin typeface="Agency FB" panose="020B0503020202020204" pitchFamily="34" charset="0"/>
              </a:rPr>
              <a:t>UTURE SCOPE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592884-6E93-7E50-EBA4-B0E41C72DE8C}"/>
              </a:ext>
            </a:extLst>
          </p:cNvPr>
          <p:cNvSpPr txBox="1"/>
          <p:nvPr/>
        </p:nvSpPr>
        <p:spPr>
          <a:xfrm>
            <a:off x="2266338" y="3169682"/>
            <a:ext cx="4333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✔ Support Multiple Hardware Devices </a:t>
            </a:r>
          </a:p>
          <a:p>
            <a:r>
              <a:rPr lang="en-IN" dirty="0">
                <a:solidFill>
                  <a:schemeClr val="bg1"/>
                </a:solidFill>
              </a:rPr>
              <a:t>✔ Develop a GUI for Easy Control </a:t>
            </a:r>
          </a:p>
          <a:p>
            <a:r>
              <a:rPr lang="en-IN" dirty="0">
                <a:solidFill>
                  <a:schemeClr val="bg1"/>
                </a:solidFill>
              </a:rPr>
              <a:t>✔ Add Bluetooth / Wi-Fi / Ethernet</a:t>
            </a:r>
          </a:p>
          <a:p>
            <a:r>
              <a:rPr lang="en-IN" dirty="0">
                <a:solidFill>
                  <a:schemeClr val="bg1"/>
                </a:solidFill>
              </a:rPr>
              <a:t>✔ Implement Secure UART Communication </a:t>
            </a:r>
          </a:p>
          <a:p>
            <a:r>
              <a:rPr lang="en-IN" dirty="0">
                <a:solidFill>
                  <a:schemeClr val="bg1"/>
                </a:solidFill>
              </a:rPr>
              <a:t>✔ Support Advanced Command Processing </a:t>
            </a:r>
          </a:p>
          <a:p>
            <a:r>
              <a:rPr lang="en-IN" dirty="0">
                <a:solidFill>
                  <a:schemeClr val="bg1"/>
                </a:solidFill>
              </a:rPr>
              <a:t>✔ Integrate with Industrial &amp; IoT Systems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8E908-F292-691D-4183-C4139CFD9898}"/>
              </a:ext>
            </a:extLst>
          </p:cNvPr>
          <p:cNvSpPr txBox="1"/>
          <p:nvPr/>
        </p:nvSpPr>
        <p:spPr>
          <a:xfrm>
            <a:off x="5066376" y="6099862"/>
            <a:ext cx="4657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THANK YOU</a:t>
            </a:r>
            <a:endParaRPr lang="en-IN" sz="2800" b="1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122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422</Words>
  <Application>Microsoft Office PowerPoint</Application>
  <PresentationFormat>Widescreen</PresentationFormat>
  <Paragraphs>90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Agency FB</vt:lpstr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M</dc:creator>
  <cp:lastModifiedBy>I M</cp:lastModifiedBy>
  <cp:revision>1</cp:revision>
  <dcterms:created xsi:type="dcterms:W3CDTF">2026-07-30T08:58:37Z</dcterms:created>
  <dcterms:modified xsi:type="dcterms:W3CDTF">2026-07-30T13:19:27Z</dcterms:modified>
</cp:coreProperties>
</file>